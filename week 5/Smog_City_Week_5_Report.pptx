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143000"/>
            <a:ext cx="10789920" cy="54864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>
              <a:defRPr sz="2200" b="1">
                <a:solidFill>
                  <a:srgbClr val="64DCD2"/>
                </a:solidFill>
                <a:latin typeface="Aptos"/>
              </a:defRPr>
            </a:pPr>
            <a:r>
              <a:t>SMOG CITY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789920" cy="137160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Aptos"/>
              </a:defRPr>
            </a:pPr>
            <a:r>
              <a:t>Week 5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291840"/>
            <a:ext cx="10332720" cy="91440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>
              <a:defRPr sz="2500" b="0">
                <a:solidFill>
                  <a:srgbClr val="DCEBF0"/>
                </a:solidFill>
                <a:latin typeface="Aptos"/>
              </a:defRPr>
            </a:pPr>
            <a:r>
              <a:t>Data Audit and Quality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806440"/>
            <a:ext cx="10515600" cy="36576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>
              <a:defRPr sz="1600" b="0">
                <a:solidFill>
                  <a:srgbClr val="FFFFFF"/>
                </a:solidFill>
                <a:latin typeface="Aptos"/>
              </a:defRPr>
            </a:pPr>
            <a:r>
              <a:t>Air Quality Analysis of Indian Cities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>
              <a:defRPr sz="2800" b="1">
                <a:solidFill>
                  <a:srgbClr val="142A44"/>
                </a:solidFill>
                <a:latin typeface="Aptos"/>
              </a:defRPr>
            </a:pPr>
            <a:r>
              <a:t>1. 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36576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>
              <a:defRPr sz="1300" b="0">
                <a:solidFill>
                  <a:srgbClr val="5F6C76"/>
                </a:solidFill>
                <a:latin typeface="Aptos"/>
              </a:defRPr>
            </a:pPr>
            <a:r>
              <a:t>Week 5 focuses on checking dataset quality before further analysis.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515600" cy="4480560"/>
          </a:xfrm>
          <a:prstGeom prst="rect">
            <a:avLst/>
          </a:prstGeom>
          <a:noFill/>
        </p:spPr>
        <p:txBody>
          <a:bodyPr wrap="square" lIns="109728" rIns="73152" tIns="73152">
            <a:spAutoFit/>
          </a:bodyPr>
          <a:lstStyle/>
          <a:p>
            <a:pPr>
              <a:spcAft>
                <a:spcPts val="1500"/>
              </a:spcAft>
              <a:defRPr sz="2100">
                <a:solidFill>
                  <a:srgbClr val="28343E"/>
                </a:solidFill>
                <a:latin typeface="Aptos"/>
              </a:defRPr>
            </a:pPr>
            <a:r>
              <a:t>Project: Smog City — Visualizing the Invisible Threat</a:t>
            </a:r>
          </a:p>
          <a:p>
            <a:pPr>
              <a:spcAft>
                <a:spcPts val="1500"/>
              </a:spcAft>
              <a:defRPr sz="2100">
                <a:solidFill>
                  <a:srgbClr val="28343E"/>
                </a:solidFill>
                <a:latin typeface="Aptos"/>
              </a:defRPr>
            </a:pPr>
            <a:r>
              <a:t>Objective: examine air-quality measurements across Indian cities.</a:t>
            </a:r>
          </a:p>
          <a:p>
            <a:pPr>
              <a:spcAft>
                <a:spcPts val="1500"/>
              </a:spcAft>
              <a:defRPr sz="2100">
                <a:solidFill>
                  <a:srgbClr val="28343E"/>
                </a:solidFill>
                <a:latin typeface="Aptos"/>
              </a:defRPr>
            </a:pPr>
            <a:r>
              <a:t>Week 5 task: audit the dataset structure, missing values, duplicates, and numeric summaries.</a:t>
            </a:r>
          </a:p>
          <a:p>
            <a:pPr>
              <a:spcAft>
                <a:spcPts val="1500"/>
              </a:spcAft>
              <a:defRPr sz="2100">
                <a:solidFill>
                  <a:srgbClr val="28343E"/>
                </a:solidFill>
                <a:latin typeface="Aptos"/>
              </a:defRPr>
            </a:pPr>
            <a:r>
              <a:t>Dataset file: aqi_india_38cols_knn_final.csv (the file identified in the Week 4 notebook).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>
              <a:defRPr sz="2800" b="1">
                <a:solidFill>
                  <a:srgbClr val="142A44"/>
                </a:solidFill>
                <a:latin typeface="Aptos"/>
              </a:defRPr>
            </a:pPr>
            <a:r>
              <a:t>2. Dataset and Tools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15600" cy="4480560"/>
          </a:xfrm>
          <a:prstGeom prst="rect">
            <a:avLst/>
          </a:prstGeom>
          <a:noFill/>
        </p:spPr>
        <p:txBody>
          <a:bodyPr wrap="square" lIns="109728" rIns="73152" tIns="73152">
            <a:spAutoFit/>
          </a:bodyPr>
          <a:lstStyle/>
          <a:p>
            <a:pPr>
              <a:spcAft>
                <a:spcPts val="1500"/>
              </a:spcAft>
              <a:defRPr sz="2100">
                <a:solidFill>
                  <a:srgbClr val="28343E"/>
                </a:solidFill>
                <a:latin typeface="Aptos"/>
              </a:defRPr>
            </a:pPr>
            <a:r>
              <a:t>Input: the same CSV used for Week 4 to keep the project workflow consistent.</a:t>
            </a:r>
          </a:p>
          <a:p>
            <a:pPr>
              <a:spcAft>
                <a:spcPts val="1500"/>
              </a:spcAft>
              <a:defRPr sz="2100">
                <a:solidFill>
                  <a:srgbClr val="28343E"/>
                </a:solidFill>
                <a:latin typeface="Aptos"/>
              </a:defRPr>
            </a:pPr>
            <a:r>
              <a:t>Tools: Google Colab, Python, pandas, NumPy, and Matplotlib.</a:t>
            </a:r>
          </a:p>
          <a:p>
            <a:pPr>
              <a:spcAft>
                <a:spcPts val="1500"/>
              </a:spcAft>
              <a:defRPr sz="2100">
                <a:solidFill>
                  <a:srgbClr val="28343E"/>
                </a:solidFill>
                <a:latin typeface="Aptos"/>
              </a:defRPr>
            </a:pPr>
            <a:r>
              <a:t>Initial checks: row and column count, column names, data types, and sample records.</a:t>
            </a:r>
          </a:p>
          <a:p>
            <a:pPr>
              <a:spcAft>
                <a:spcPts val="1500"/>
              </a:spcAft>
              <a:defRPr sz="2100">
                <a:solidFill>
                  <a:srgbClr val="28343E"/>
                </a:solidFill>
                <a:latin typeface="Aptos"/>
              </a:defRPr>
            </a:pPr>
            <a:r>
              <a:t>The exact counts and final findings should be filled in after running the Week 5 notebook.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>
              <a:defRPr sz="2800" b="1">
                <a:solidFill>
                  <a:srgbClr val="142A44"/>
                </a:solidFill>
                <a:latin typeface="Aptos"/>
              </a:defRPr>
            </a:pPr>
            <a:r>
              <a:t>3. Data Quality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15600" cy="4480560"/>
          </a:xfrm>
          <a:prstGeom prst="rect">
            <a:avLst/>
          </a:prstGeom>
          <a:noFill/>
        </p:spPr>
        <p:txBody>
          <a:bodyPr wrap="square" lIns="109728" rIns="73152" tIns="73152">
            <a:spAutoFit/>
          </a:bodyPr>
          <a:lstStyle/>
          <a:p>
            <a:pPr>
              <a:spcAft>
                <a:spcPts val="1500"/>
              </a:spcAft>
              <a:defRPr sz="2000">
                <a:solidFill>
                  <a:srgbClr val="28343E"/>
                </a:solidFill>
                <a:latin typeface="Aptos"/>
              </a:defRPr>
            </a:pPr>
            <a:r>
              <a:t>Missing values: count missing cells per column and calculate the missing percentage.</a:t>
            </a:r>
          </a:p>
          <a:p>
            <a:pPr>
              <a:spcAft>
                <a:spcPts val="1500"/>
              </a:spcAft>
              <a:defRPr sz="2000">
                <a:solidFill>
                  <a:srgbClr val="28343E"/>
                </a:solidFill>
                <a:latin typeface="Aptos"/>
              </a:defRPr>
            </a:pPr>
            <a:r>
              <a:t>Duplicate records: identify fully duplicated rows.</a:t>
            </a:r>
          </a:p>
          <a:p>
            <a:pPr>
              <a:spcAft>
                <a:spcPts val="1500"/>
              </a:spcAft>
              <a:defRPr sz="2000">
                <a:solidFill>
                  <a:srgbClr val="28343E"/>
                </a:solidFill>
                <a:latin typeface="Aptos"/>
              </a:defRPr>
            </a:pPr>
            <a:r>
              <a:t>Data types: review numeric and categorical columns for expected formats.</a:t>
            </a:r>
          </a:p>
          <a:p>
            <a:pPr>
              <a:spcAft>
                <a:spcPts val="1500"/>
              </a:spcAft>
              <a:defRPr sz="2000">
                <a:solidFill>
                  <a:srgbClr val="28343E"/>
                </a:solidFill>
                <a:latin typeface="Aptos"/>
              </a:defRPr>
            </a:pPr>
            <a:r>
              <a:t>Unique values: inspect how many distinct values appear in each column.</a:t>
            </a:r>
          </a:p>
          <a:p>
            <a:pPr>
              <a:spcAft>
                <a:spcPts val="1500"/>
              </a:spcAft>
              <a:defRPr sz="2000">
                <a:solidFill>
                  <a:srgbClr val="28343E"/>
                </a:solidFill>
                <a:latin typeface="Aptos"/>
              </a:defRPr>
            </a:pPr>
            <a:r>
              <a:t>These checks help identify data issues before interpreting the visualizations.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>
              <a:defRPr sz="2800" b="1">
                <a:solidFill>
                  <a:srgbClr val="142A44"/>
                </a:solidFill>
                <a:latin typeface="Aptos"/>
              </a:defRPr>
            </a:pPr>
            <a:r>
              <a:t>4. Descriptive Statistics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15600" cy="4480560"/>
          </a:xfrm>
          <a:prstGeom prst="rect">
            <a:avLst/>
          </a:prstGeom>
          <a:noFill/>
        </p:spPr>
        <p:txBody>
          <a:bodyPr wrap="square" lIns="109728" rIns="73152" tIns="73152">
            <a:spAutoFit/>
          </a:bodyPr>
          <a:lstStyle/>
          <a:p>
            <a:pPr>
              <a:spcAft>
                <a:spcPts val="1500"/>
              </a:spcAft>
              <a:defRPr sz="2000">
                <a:solidFill>
                  <a:srgbClr val="28343E"/>
                </a:solidFill>
                <a:latin typeface="Aptos"/>
              </a:defRPr>
            </a:pPr>
            <a:r>
              <a:t>Calculate count, mean, standard deviation, minimum, quartiles, and maximum for numeric columns.</a:t>
            </a:r>
          </a:p>
          <a:p>
            <a:pPr>
              <a:spcAft>
                <a:spcPts val="1500"/>
              </a:spcAft>
              <a:defRPr sz="2000">
                <a:solidFill>
                  <a:srgbClr val="28343E"/>
                </a:solidFill>
                <a:latin typeface="Aptos"/>
              </a:defRPr>
            </a:pPr>
            <a:r>
              <a:t>Use pollutant and AQI summaries to understand the scale and spread of measurements.</a:t>
            </a:r>
          </a:p>
          <a:p>
            <a:pPr>
              <a:spcAft>
                <a:spcPts val="1500"/>
              </a:spcAft>
              <a:defRPr sz="2000">
                <a:solidFill>
                  <a:srgbClr val="28343E"/>
                </a:solidFill>
                <a:latin typeface="Aptos"/>
              </a:defRPr>
            </a:pPr>
            <a:r>
              <a:t>Compare ranges across variables carefully because pollutants and AQI may use different units.</a:t>
            </a:r>
          </a:p>
          <a:p>
            <a:pPr>
              <a:spcAft>
                <a:spcPts val="1500"/>
              </a:spcAft>
              <a:defRPr sz="2000">
                <a:solidFill>
                  <a:srgbClr val="28343E"/>
                </a:solidFill>
                <a:latin typeface="Aptos"/>
              </a:defRPr>
            </a:pPr>
            <a:r>
              <a:t>Use the actual Week 5 output table to report the important numerical findings.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>
              <a:defRPr sz="2800" b="1">
                <a:solidFill>
                  <a:srgbClr val="142A44"/>
                </a:solidFill>
                <a:latin typeface="Aptos"/>
              </a:defRPr>
            </a:pPr>
            <a:r>
              <a:t>5. AQI Distribution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15600" cy="4480560"/>
          </a:xfrm>
          <a:prstGeom prst="rect">
            <a:avLst/>
          </a:prstGeom>
          <a:noFill/>
        </p:spPr>
        <p:txBody>
          <a:bodyPr wrap="square" lIns="109728" rIns="73152" tIns="73152">
            <a:spAutoFit/>
          </a:bodyPr>
          <a:lstStyle/>
          <a:p>
            <a:pPr>
              <a:spcAft>
                <a:spcPts val="1500"/>
              </a:spcAft>
              <a:defRPr sz="2000">
                <a:solidFill>
                  <a:srgbClr val="28343E"/>
                </a:solidFill>
                <a:latin typeface="Aptos"/>
              </a:defRPr>
            </a:pPr>
            <a:r>
              <a:t>Plot a histogram of the available AQI column, if present.</a:t>
            </a:r>
          </a:p>
          <a:p>
            <a:pPr>
              <a:spcAft>
                <a:spcPts val="1500"/>
              </a:spcAft>
              <a:defRPr sz="2000">
                <a:solidFill>
                  <a:srgbClr val="28343E"/>
                </a:solidFill>
                <a:latin typeface="Aptos"/>
              </a:defRPr>
            </a:pPr>
            <a:r>
              <a:t>The histogram helps show where AQI observations are concentrated and whether the distribution is skewed.</a:t>
            </a:r>
          </a:p>
          <a:p>
            <a:pPr>
              <a:spcAft>
                <a:spcPts val="1500"/>
              </a:spcAft>
              <a:defRPr sz="2000">
                <a:solidFill>
                  <a:srgbClr val="28343E"/>
                </a:solidFill>
                <a:latin typeface="Aptos"/>
              </a:defRPr>
            </a:pPr>
            <a:r>
              <a:t>The plot should be interpreted from the generated graph; no distribution pattern is assumed in this report.</a:t>
            </a:r>
          </a:p>
          <a:p>
            <a:pPr>
              <a:spcAft>
                <a:spcPts val="1500"/>
              </a:spcAft>
              <a:defRPr sz="2000">
                <a:solidFill>
                  <a:srgbClr val="28343E"/>
                </a:solidFill>
                <a:latin typeface="Aptos"/>
              </a:defRPr>
            </a:pPr>
            <a:r>
              <a:t>If the notebook reports that no AQI column was detected, check the actual column names before proceeding.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>
              <a:defRPr sz="2800" b="1">
                <a:solidFill>
                  <a:srgbClr val="142A44"/>
                </a:solidFill>
                <a:latin typeface="Aptos"/>
              </a:defRPr>
            </a:pPr>
            <a:r>
              <a:t>6. Workflow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2286000"/>
            <a:ext cx="1828800" cy="1417320"/>
          </a:xfrm>
          <a:prstGeom prst="roundRect">
            <a:avLst/>
          </a:prstGeom>
          <a:solidFill>
            <a:srgbClr val="EDF4F7"/>
          </a:solidFill>
          <a:ln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200" b="1">
                <a:solidFill>
                  <a:srgbClr val="008080"/>
                </a:solidFill>
              </a:defRPr>
            </a:pPr>
            <a:r>
              <a:t>01</a:t>
            </a:r>
          </a:p>
          <a:p>
            <a:pPr algn="ctr">
              <a:defRPr sz="1400">
                <a:solidFill>
                  <a:srgbClr val="142A44"/>
                </a:solidFill>
              </a:defRPr>
            </a:pPr>
            <a:r>
              <a:t>Load CSV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834640" y="2286000"/>
            <a:ext cx="1828800" cy="1417320"/>
          </a:xfrm>
          <a:prstGeom prst="roundRect">
            <a:avLst/>
          </a:prstGeom>
          <a:solidFill>
            <a:srgbClr val="EDF4F7"/>
          </a:solidFill>
          <a:ln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200" b="1">
                <a:solidFill>
                  <a:srgbClr val="008080"/>
                </a:solidFill>
              </a:defRPr>
            </a:pPr>
            <a:r>
              <a:t>02</a:t>
            </a:r>
          </a:p>
          <a:p>
            <a:pPr algn="ctr">
              <a:defRPr sz="1400">
                <a:solidFill>
                  <a:srgbClr val="142A44"/>
                </a:solidFill>
              </a:defRPr>
            </a:pPr>
            <a:r>
              <a:t>Inspect structure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66360" y="2286000"/>
            <a:ext cx="1828800" cy="1417320"/>
          </a:xfrm>
          <a:prstGeom prst="roundRect">
            <a:avLst/>
          </a:prstGeom>
          <a:solidFill>
            <a:srgbClr val="EDF4F7"/>
          </a:solidFill>
          <a:ln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200" b="1">
                <a:solidFill>
                  <a:srgbClr val="008080"/>
                </a:solidFill>
              </a:defRPr>
            </a:pPr>
            <a:r>
              <a:t>03</a:t>
            </a:r>
          </a:p>
          <a:p>
            <a:pPr algn="ctr">
              <a:defRPr sz="1400">
                <a:solidFill>
                  <a:srgbClr val="142A44"/>
                </a:solidFill>
              </a:defRPr>
            </a:pPr>
            <a:r>
              <a:t>Audit quality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79" y="2286000"/>
            <a:ext cx="1828800" cy="1417320"/>
          </a:xfrm>
          <a:prstGeom prst="roundRect">
            <a:avLst/>
          </a:prstGeom>
          <a:solidFill>
            <a:srgbClr val="EDF4F7"/>
          </a:solidFill>
          <a:ln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200" b="1">
                <a:solidFill>
                  <a:srgbClr val="008080"/>
                </a:solidFill>
              </a:defRPr>
            </a:pPr>
            <a:r>
              <a:t>04</a:t>
            </a:r>
          </a:p>
          <a:p>
            <a:pPr algn="ctr">
              <a:defRPr sz="1400">
                <a:solidFill>
                  <a:srgbClr val="142A44"/>
                </a:solidFill>
              </a:defRPr>
            </a:pPr>
            <a:r>
              <a:t>Summarize numeric data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829800" y="2286000"/>
            <a:ext cx="1828800" cy="1417320"/>
          </a:xfrm>
          <a:prstGeom prst="roundRect">
            <a:avLst/>
          </a:prstGeom>
          <a:solidFill>
            <a:srgbClr val="EDF4F7"/>
          </a:solidFill>
          <a:ln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200" b="1">
                <a:solidFill>
                  <a:srgbClr val="008080"/>
                </a:solidFill>
              </a:defRPr>
            </a:pPr>
            <a:r>
              <a:t>05</a:t>
            </a:r>
          </a:p>
          <a:p>
            <a:pPr algn="ctr">
              <a:defRPr sz="1400">
                <a:solidFill>
                  <a:srgbClr val="142A44"/>
                </a:solidFill>
              </a:defRPr>
            </a:pPr>
            <a:r>
              <a:t>Plot AQI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572000"/>
            <a:ext cx="10515600" cy="82296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>
              <a:defRPr sz="1800" b="0">
                <a:solidFill>
                  <a:srgbClr val="28343E"/>
                </a:solidFill>
                <a:latin typeface="Aptos"/>
              </a:defRPr>
            </a:pPr>
            <a:r>
              <a:t>Outputs: audit table, descriptive-statistics table, missing-value chart (if needed), and AQI histogram (if a suitable AQI column is present).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>
              <a:defRPr sz="2800" b="1">
                <a:solidFill>
                  <a:srgbClr val="142A44"/>
                </a:solidFill>
                <a:latin typeface="Aptos"/>
              </a:defRPr>
            </a:pPr>
            <a:r>
              <a:t>7. Expected Deliverables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15600" cy="4480560"/>
          </a:xfrm>
          <a:prstGeom prst="rect">
            <a:avLst/>
          </a:prstGeom>
          <a:noFill/>
        </p:spPr>
        <p:txBody>
          <a:bodyPr wrap="square" lIns="109728" rIns="73152" tIns="73152">
            <a:spAutoFit/>
          </a:bodyPr>
          <a:lstStyle/>
          <a:p>
            <a:pPr>
              <a:spcAft>
                <a:spcPts val="1500"/>
              </a:spcAft>
              <a:defRPr sz="2000">
                <a:solidFill>
                  <a:srgbClr val="28343E"/>
                </a:solidFill>
                <a:latin typeface="Aptos"/>
              </a:defRPr>
            </a:pPr>
            <a:r>
              <a:t>Week5_Data_Audit.csv — column-level quality summary.</a:t>
            </a:r>
          </a:p>
          <a:p>
            <a:pPr>
              <a:spcAft>
                <a:spcPts val="1500"/>
              </a:spcAft>
              <a:defRPr sz="2000">
                <a:solidFill>
                  <a:srgbClr val="28343E"/>
                </a:solidFill>
                <a:latin typeface="Aptos"/>
              </a:defRPr>
            </a:pPr>
            <a:r>
              <a:t>Week5_Descriptive_Statistics.csv — numerical summaries.</a:t>
            </a:r>
          </a:p>
          <a:p>
            <a:pPr>
              <a:spcAft>
                <a:spcPts val="1500"/>
              </a:spcAft>
              <a:defRPr sz="2000">
                <a:solidFill>
                  <a:srgbClr val="28343E"/>
                </a:solidFill>
                <a:latin typeface="Aptos"/>
              </a:defRPr>
            </a:pPr>
            <a:r>
              <a:t>Week5_Missing_Values.png — missing-value chart, when missing values exist.</a:t>
            </a:r>
          </a:p>
          <a:p>
            <a:pPr>
              <a:spcAft>
                <a:spcPts val="1500"/>
              </a:spcAft>
              <a:defRPr sz="2000">
                <a:solidFill>
                  <a:srgbClr val="28343E"/>
                </a:solidFill>
                <a:latin typeface="Aptos"/>
              </a:defRPr>
            </a:pPr>
            <a:r>
              <a:t>Week5_AQI_Distribution.png — histogram, when an AQI column is recognized.</a:t>
            </a:r>
          </a:p>
          <a:p>
            <a:pPr>
              <a:spcAft>
                <a:spcPts val="1500"/>
              </a:spcAft>
              <a:defRPr sz="2000">
                <a:solidFill>
                  <a:srgbClr val="28343E"/>
                </a:solidFill>
                <a:latin typeface="Aptos"/>
              </a:defRPr>
            </a:pPr>
            <a:r>
              <a:t>Notebook output should be used to replace placeholders with actual results.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>
              <a:defRPr sz="2800" b="1">
                <a:solidFill>
                  <a:srgbClr val="142A44"/>
                </a:solidFill>
                <a:latin typeface="Aptos"/>
              </a:defRPr>
            </a:pPr>
            <a:r>
              <a:t>8.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15600" cy="4480560"/>
          </a:xfrm>
          <a:prstGeom prst="rect">
            <a:avLst/>
          </a:prstGeom>
          <a:noFill/>
        </p:spPr>
        <p:txBody>
          <a:bodyPr wrap="square" lIns="109728" rIns="73152" tIns="73152">
            <a:spAutoFit/>
          </a:bodyPr>
          <a:lstStyle/>
          <a:p>
            <a:pPr>
              <a:spcAft>
                <a:spcPts val="1500"/>
              </a:spcAft>
              <a:defRPr sz="2100">
                <a:solidFill>
                  <a:srgbClr val="28343E"/>
                </a:solidFill>
                <a:latin typeface="Aptos"/>
              </a:defRPr>
            </a:pPr>
            <a:r>
              <a:t>Week 5 establishes a clear baseline of dataset quality before additional feature engineering.</a:t>
            </a:r>
          </a:p>
          <a:p>
            <a:pPr>
              <a:spcAft>
                <a:spcPts val="1500"/>
              </a:spcAft>
              <a:defRPr sz="2100">
                <a:solidFill>
                  <a:srgbClr val="28343E"/>
                </a:solidFill>
                <a:latin typeface="Aptos"/>
              </a:defRPr>
            </a:pPr>
            <a:r>
              <a:t>The audit identifies missingness, duplicate records, data types, and numeric ranges.</a:t>
            </a:r>
          </a:p>
          <a:p>
            <a:pPr>
              <a:spcAft>
                <a:spcPts val="1500"/>
              </a:spcAft>
              <a:defRPr sz="2100">
                <a:solidFill>
                  <a:srgbClr val="28343E"/>
                </a:solidFill>
                <a:latin typeface="Aptos"/>
              </a:defRPr>
            </a:pPr>
            <a:r>
              <a:t>The AQI histogram provides an initial view of the distribution, subject to the actual output.</a:t>
            </a:r>
          </a:p>
          <a:p>
            <a:pPr>
              <a:spcAft>
                <a:spcPts val="1500"/>
              </a:spcAft>
              <a:defRPr sz="2100">
                <a:solidFill>
                  <a:srgbClr val="28343E"/>
                </a:solidFill>
                <a:latin typeface="Aptos"/>
              </a:defRPr>
            </a:pPr>
            <a:r>
              <a:t>Final conclusions should be based on the executed notebook results rather than assumed values.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789920" cy="54864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>
              <a:defRPr sz="3200" b="1">
                <a:solidFill>
                  <a:srgbClr val="142A44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54480"/>
            <a:ext cx="10515600" cy="91440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>
              <a:defRPr sz="2400" b="1">
                <a:solidFill>
                  <a:srgbClr val="008080"/>
                </a:solidFill>
                <a:latin typeface="Aptos"/>
              </a:defRPr>
            </a:pPr>
            <a:r>
              <a:t>Questions &amp;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5303520"/>
            <a:ext cx="10515600" cy="73152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>
              <a:defRPr sz="1600" b="0">
                <a:solidFill>
                  <a:srgbClr val="5F6C76"/>
                </a:solidFill>
                <a:latin typeface="Aptos"/>
              </a:defRPr>
            </a:pPr>
            <a:r>
              <a:t>Smog City | Week 5 — Data Audit and Quality Assessment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